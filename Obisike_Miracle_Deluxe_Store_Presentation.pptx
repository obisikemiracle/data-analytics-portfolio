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obisike" userId="e4199f0ba216a26a" providerId="LiveId" clId="{E79D3834-E940-4CDA-8D1C-F5FB18ED394E}"/>
    <pc:docChg chg="custSel modSld">
      <pc:chgData name="Maxwell obisike" userId="e4199f0ba216a26a" providerId="LiveId" clId="{E79D3834-E940-4CDA-8D1C-F5FB18ED394E}" dt="2026-10-20T23:55:20.440" v="103" actId="20577"/>
      <pc:docMkLst>
        <pc:docMk/>
      </pc:docMkLst>
      <pc:sldChg chg="modSp mod">
        <pc:chgData name="Maxwell obisike" userId="e4199f0ba216a26a" providerId="LiveId" clId="{E79D3834-E940-4CDA-8D1C-F5FB18ED394E}" dt="2026-10-20T23:55:20.440" v="103" actId="20577"/>
        <pc:sldMkLst>
          <pc:docMk/>
          <pc:sldMk cId="0" sldId="262"/>
        </pc:sldMkLst>
        <pc:spChg chg="mod">
          <ac:chgData name="Maxwell obisike" userId="e4199f0ba216a26a" providerId="LiveId" clId="{E79D3834-E940-4CDA-8D1C-F5FB18ED394E}" dt="2026-10-20T23:55:20.440" v="103" actId="20577"/>
          <ac:spMkLst>
            <pc:docMk/>
            <pc:sldMk cId="0" sldId="262"/>
            <ac:spMk id="1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A9B9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344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Consumer</c:v>
                </c:pt>
                <c:pt idx="1">
                  <c:v>West region</c:v>
                </c:pt>
                <c:pt idx="2">
                  <c:v>Home Office</c:v>
                </c:pt>
                <c:pt idx="3">
                  <c:v>Central region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134119</c:v>
                </c:pt>
                <c:pt idx="1">
                  <c:v>108418</c:v>
                </c:pt>
                <c:pt idx="2">
                  <c:v>60311</c:v>
                </c:pt>
                <c:pt idx="3">
                  <c:v>39706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F69-4F9D-8100-3AD5E3D984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1E6ED"/>
              </a:solidFill>
            </a:ln>
          </c:spPr>
        </c:majorGridlines>
        <c:numFmt formatCode="\$#,##0;\-\$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7738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CD4A4A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344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Tables</c:v>
                </c:pt>
                <c:pt idx="1">
                  <c:v>Cubify CubeX 3D Printer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-17725</c:v>
                </c:pt>
                <c:pt idx="1">
                  <c:v>-8880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08E-4842-8F41-C3A7A2DF17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1E6ED"/>
              </a:solidFill>
            </a:ln>
          </c:spPr>
        </c:majorGridlines>
        <c:numFmt formatCode="\$#,##0;\-\$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7738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2D69B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344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10%</c:v>
                </c:pt>
                <c:pt idx="2">
                  <c:v>15%</c:v>
                </c:pt>
                <c:pt idx="3">
                  <c:v>20%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320988</c:v>
                </c:pt>
                <c:pt idx="1">
                  <c:v>9029</c:v>
                </c:pt>
                <c:pt idx="2">
                  <c:v>1419</c:v>
                </c:pt>
                <c:pt idx="3">
                  <c:v>90337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D1-4E47-BE2E-6C119439B1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1E6ED"/>
              </a:solidFill>
            </a:ln>
          </c:spPr>
        </c:majorGridlines>
        <c:numFmt formatCode="\$#,##0;\-\$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7738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discount</c:v>
                </c:pt>
              </c:strCache>
            </c:strRef>
          </c:tx>
          <c:spPr>
            <a:solidFill>
              <a:srgbClr val="EEB142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344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Binders</c:v>
                </c:pt>
                <c:pt idx="1">
                  <c:v>Labels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37.229999999999997</c:v>
                </c:pt>
                <c:pt idx="1">
                  <c:v>6.87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362-45BD-97DE-9D5A94D9BC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1E6ED"/>
              </a:solidFill>
            </a:ln>
          </c:spPr>
        </c:majorGridlines>
        <c:numFmt formatCode="0.0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77384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138160" y="4023360"/>
            <a:ext cx="384048" cy="914400"/>
          </a:xfrm>
          <a:prstGeom prst="roundRect">
            <a:avLst>
              <a:gd name="adj" fmla="val 12000"/>
            </a:avLst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3960" y="3291840"/>
            <a:ext cx="384048" cy="1645920"/>
          </a:xfrm>
          <a:prstGeom prst="roundRect">
            <a:avLst>
              <a:gd name="adj" fmla="val 12000"/>
            </a:avLst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09760" y="2468880"/>
            <a:ext cx="384048" cy="2468880"/>
          </a:xfrm>
          <a:prstGeom prst="roundRect">
            <a:avLst>
              <a:gd name="adj" fmla="val 12000"/>
            </a:avLst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95560" y="3520440"/>
            <a:ext cx="384048" cy="1417320"/>
          </a:xfrm>
          <a:prstGeom prst="roundRect">
            <a:avLst>
              <a:gd name="adj" fmla="val 12000"/>
            </a:avLst>
          </a:prstGeom>
          <a:solidFill>
            <a:srgbClr val="5F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6583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EEB142"/>
                </a:solidFill>
                <a:latin typeface="Aptos"/>
              </a:defRPr>
            </a:pPr>
            <a:r>
              <a:t>FINAL DATA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71323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DELUXE STORE</a:t>
            </a:r>
            <a:br/>
            <a:r>
              <a:t>SALES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60350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D6E0EE"/>
                </a:solidFill>
                <a:latin typeface="Aptos"/>
              </a:defRPr>
            </a:pPr>
            <a:r>
              <a:t>Business performance • 2014–2017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822191"/>
            <a:ext cx="77724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133087"/>
            <a:ext cx="6217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Prepared by: Obisike Miracle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64922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D6E0EE"/>
                </a:solidFill>
                <a:latin typeface="Aptos"/>
              </a:defRPr>
            </a:pPr>
            <a:r>
              <a:t>Training Tutor: Ms. Deborah Ajayi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56048"/>
            <a:ext cx="66751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D6E0EE"/>
                </a:solidFill>
                <a:latin typeface="Aptos"/>
              </a:defRPr>
            </a:pPr>
            <a:r>
              <a:t>Supported by Tech Access Foundation</a:t>
            </a:r>
            <a:br/>
            <a:r>
              <a:t>Scholarship sponsored by Mrs Kate Henshaw in celebration of her birthday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91072"/>
            <a:ext cx="62179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EEB142"/>
                </a:solidFill>
                <a:latin typeface="Aptos"/>
              </a:defRPr>
            </a:pPr>
            <a:r>
              <a:t>DATA → INSIGHT → BUSINESS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From transaction data to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05740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53035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14223E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72968"/>
            <a:ext cx="2834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2D69B4"/>
                </a:solidFill>
                <a:latin typeface="Aptos"/>
              </a:defRPr>
            </a:pPr>
            <a:r>
              <a:t>Excel + Power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02152"/>
            <a:ext cx="2834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Clean and validate 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2670048"/>
            <a:ext cx="3657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2400" b="1">
                <a:solidFill>
                  <a:srgbClr val="67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4880" y="205740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176272"/>
            <a:ext cx="53035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43200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14223E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72968"/>
            <a:ext cx="2834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1A9B91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02152"/>
            <a:ext cx="2834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Compare sales, profit and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670048"/>
            <a:ext cx="3657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2400" b="1">
                <a:solidFill>
                  <a:srgbClr val="6773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82880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49640" y="205740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2176272"/>
            <a:ext cx="53035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43200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14223E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172968"/>
            <a:ext cx="2834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EEB142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502152"/>
            <a:ext cx="2834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Support business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3484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645152"/>
            <a:ext cx="18288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2D69B4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65192"/>
            <a:ext cx="182880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2014–2017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645152"/>
            <a:ext cx="20116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2D69B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965192"/>
            <a:ext cx="201168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4223E"/>
                </a:solidFill>
                <a:latin typeface="Aptos"/>
              </a:defRPr>
            </a:pPr>
            <a:r>
              <a:t>Excel +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645152"/>
            <a:ext cx="21031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2D69B4"/>
                </a:solidFill>
                <a:latin typeface="Aptos"/>
              </a:defRPr>
            </a:pPr>
            <a:r>
              <a:t>ANALYSIS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965192"/>
            <a:ext cx="521208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4223E"/>
                </a:solidFill>
                <a:latin typeface="Aptos"/>
              </a:defRPr>
            </a:pPr>
            <a:r>
              <a:t>Sales • Products • Customers • Regions • Discounts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Overall business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The store was profitable overall, but performance varied across time and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82296" cy="15087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30175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77384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30175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14223E"/>
                </a:solidFill>
                <a:latin typeface="Aptos"/>
              </a:defRPr>
            </a:pPr>
            <a:r>
              <a:t>$2.30M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70048"/>
            <a:ext cx="3017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677384"/>
                </a:solidFill>
                <a:latin typeface="Aptos"/>
              </a:defRPr>
            </a:pPr>
            <a:r>
              <a:t>2014–2017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645920"/>
            <a:ext cx="82296" cy="1508760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810512"/>
            <a:ext cx="30175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77384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48840"/>
            <a:ext cx="30175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14223E"/>
                </a:solidFill>
                <a:latin typeface="Aptos"/>
              </a:defRPr>
            </a:pPr>
            <a:r>
              <a:t>$286,408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670048"/>
            <a:ext cx="3017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677384"/>
                </a:solidFill>
                <a:latin typeface="Aptos"/>
              </a:defRPr>
            </a:pPr>
            <a:r>
              <a:t>Across the analysis 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645920"/>
            <a:ext cx="82296" cy="1508760"/>
          </a:xfrm>
          <a:prstGeom prst="rect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810512"/>
            <a:ext cx="30175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677384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148840"/>
            <a:ext cx="30175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14223E"/>
                </a:solidFill>
                <a:latin typeface="Aptos"/>
              </a:defRPr>
            </a:pPr>
            <a:r>
              <a:t>12.47%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70048"/>
            <a:ext cx="30175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677384"/>
                </a:solidFill>
                <a:latin typeface="Aptos"/>
              </a:defRPr>
            </a:pPr>
            <a:r>
              <a:t>Profit as a share of sales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66160"/>
            <a:ext cx="66294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5943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2D69B4"/>
                </a:solidFill>
                <a:latin typeface="Aptos"/>
              </a:defRPr>
            </a:pPr>
            <a:r>
              <a:t>WHAT THE RESULTS TELL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24528"/>
            <a:ext cx="598932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Monthly sales fluctuated; January and February were generally weaker.</a:t>
            </a:r>
          </a:p>
          <a:p>
            <a:pPr>
              <a:spcAft>
                <a:spcPts val="7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Technology generated the highest overall category profit.</a:t>
            </a:r>
          </a:p>
          <a:p>
            <a:pPr>
              <a:spcAft>
                <a:spcPts val="7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Furniture had the weakest category profit and zero profit in 2017.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566160"/>
            <a:ext cx="3840480" cy="2057400"/>
          </a:xfrm>
          <a:prstGeom prst="roundRect">
            <a:avLst>
              <a:gd name="adj" fmla="val 12000"/>
            </a:avLst>
          </a:prstGeom>
          <a:solidFill>
            <a:srgbClr val="E4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3858768"/>
            <a:ext cx="32004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1A9B91"/>
                </a:solidFill>
                <a:latin typeface="Aptos"/>
              </a:defRPr>
            </a:pPr>
            <a:r>
              <a:t>BUSINESS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315968"/>
            <a:ext cx="3108960" cy="9144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Track performance over time and investigate weaker periods and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Profitability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Who and what generated the strongest profit?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649224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58521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1A9B91"/>
                </a:solidFill>
                <a:latin typeface="Aptos"/>
              </a:defRPr>
            </a:pPr>
            <a:r>
              <a:t>PROFIT CONTRIBUTION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48840"/>
          <a:ext cx="6035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52360" y="1600200"/>
            <a:ext cx="4069080" cy="4389120"/>
          </a:xfrm>
          <a:prstGeom prst="roundRect">
            <a:avLst>
              <a:gd name="adj" fmla="val 12000"/>
            </a:avLst>
          </a:prstGeom>
          <a:solidFill>
            <a:srgbClr val="E4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901952"/>
            <a:ext cx="32918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A9B91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23160"/>
            <a:ext cx="32461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14223E"/>
                </a:solidFill>
                <a:latin typeface="Aptos"/>
              </a:defRPr>
            </a:pPr>
            <a:r>
              <a:t>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80360"/>
            <a:ext cx="3200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A9B91"/>
                </a:solidFill>
                <a:latin typeface="Aptos"/>
              </a:defRPr>
            </a:pPr>
            <a:r>
              <a:t>$134,119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20"/>
            <a:ext cx="32461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14223E"/>
                </a:solidFill>
                <a:latin typeface="Aptos"/>
              </a:defRPr>
            </a:pPr>
            <a:r>
              <a:t>West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31920"/>
            <a:ext cx="3200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A9B91"/>
                </a:solidFill>
                <a:latin typeface="Aptos"/>
              </a:defRPr>
            </a:pPr>
            <a:r>
              <a:t>$108,418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572000"/>
            <a:ext cx="3246120" cy="868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A3444"/>
                </a:solidFill>
                <a:latin typeface="Aptos"/>
              </a:defRPr>
            </a:pPr>
            <a:r>
              <a:t>Recommendation: learn from stronger-performing groups and investigate lower-profit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Loss analysis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Separate loss-making products so they are easy to investigate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66751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943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CD4A4A"/>
                </a:solidFill>
                <a:latin typeface="Aptos"/>
              </a:defRPr>
            </a:pPr>
            <a:r>
              <a:t>KNOWN LOSS-MAKING ITEMS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48840"/>
          <a:ext cx="62179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1600200"/>
            <a:ext cx="3886200" cy="438912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901952"/>
            <a:ext cx="31089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CD4A4A"/>
                </a:solidFill>
                <a:latin typeface="Aptos"/>
              </a:defRPr>
            </a:pPr>
            <a:r>
              <a:t>OTHER AREAS TO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514600"/>
            <a:ext cx="29260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4223E"/>
                </a:solidFill>
                <a:latin typeface="Aptos"/>
              </a:defRPr>
            </a:pPr>
            <a:r>
              <a:t>Bookcases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25496"/>
            <a:ext cx="30632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Sub-category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83280"/>
            <a:ext cx="29260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4223E"/>
                </a:solidFill>
                <a:latin typeface="Aptos"/>
              </a:defRPr>
            </a:pPr>
            <a:r>
              <a:t>Supplies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694176"/>
            <a:ext cx="30632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Sub-category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251960"/>
            <a:ext cx="29260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4223E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562856"/>
            <a:ext cx="30632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Weakest overall category; $0 profit in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53328"/>
            <a:ext cx="104241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CD4A4A"/>
                </a:solidFill>
                <a:latin typeface="Aptos"/>
              </a:defRPr>
            </a:pPr>
            <a:r>
              <a:t>Investigate cost, selling price, discounting and demand before deciding on corrective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Discounts and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Profit varied across discount levels; the pattern does not prove causation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66294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943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2D69B4"/>
                </a:solidFill>
                <a:latin typeface="Aptos"/>
              </a:defRPr>
            </a:pPr>
            <a:r>
              <a:t>TOTAL PROFIT BY DISCOUNT LEVEL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48840"/>
          <a:ext cx="6172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600200"/>
            <a:ext cx="3931920" cy="4434840"/>
          </a:xfrm>
          <a:prstGeom prst="roundRect">
            <a:avLst>
              <a:gd name="adj" fmla="val 12000"/>
            </a:avLst>
          </a:prstGeom>
          <a:solidFill>
            <a:srgbClr val="FC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901952"/>
            <a:ext cx="32004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A57519"/>
                </a:solidFill>
                <a:latin typeface="Aptos"/>
              </a:defRPr>
            </a:pPr>
            <a:r>
              <a:t>WHAT TO DO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423160"/>
            <a:ext cx="315468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Review discount effectiveness.</a:t>
            </a:r>
          </a:p>
          <a:p>
            <a:pPr>
              <a:spcAft>
                <a:spcPts val="10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Compare sales volume and product costs.</a:t>
            </a:r>
          </a:p>
          <a:p>
            <a:pPr>
              <a:spcAft>
                <a:spcPts val="10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Check selling prices and profit margins.</a:t>
            </a:r>
          </a:p>
          <a:p>
            <a:pPr>
              <a:spcAft>
                <a:spcPts val="1000"/>
              </a:spcAft>
              <a:defRPr sz="1300">
                <a:solidFill>
                  <a:srgbClr val="2A3444"/>
                </a:solidFill>
                <a:latin typeface="Aptos"/>
              </a:defRPr>
            </a:pPr>
            <a:r>
              <a:t>•  Test changes before applying them broadly.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285232"/>
            <a:ext cx="31546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4223E"/>
                </a:solidFill>
                <a:latin typeface="Aptos"/>
              </a:defRPr>
            </a:pPr>
            <a:r>
              <a:t>Highest shown profit: 0% discount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Average discount by sub-category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Discount practices were not the same across all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66294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943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2D69B4"/>
                </a:solidFill>
                <a:latin typeface="Aptos"/>
              </a:defRPr>
            </a:pPr>
            <a:r>
              <a:t>HIGHEST AND LOWEST AVERAGE DISCOUNT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94560"/>
          <a:ext cx="6172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600200"/>
            <a:ext cx="3931920" cy="4434840"/>
          </a:xfrm>
          <a:prstGeom prst="roundRect">
            <a:avLst>
              <a:gd name="adj" fmla="val 12000"/>
            </a:avLst>
          </a:prstGeom>
          <a:solidFill>
            <a:srgbClr val="FC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901952"/>
            <a:ext cx="32004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A57519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468880"/>
            <a:ext cx="315468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14223E"/>
                </a:solidFill>
                <a:latin typeface="Aptos"/>
              </a:defRPr>
            </a:pPr>
            <a:r>
              <a:t>Binders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3108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A57519"/>
                </a:solidFill>
                <a:latin typeface="Aptos"/>
              </a:defRPr>
            </a:pPr>
            <a:r>
              <a:t>37.23% average discount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566160"/>
            <a:ext cx="315468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14223E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23360"/>
            <a:ext cx="3108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A57519"/>
                </a:solidFill>
                <a:latin typeface="Aptos"/>
              </a:defRPr>
            </a:pPr>
            <a:r>
              <a:t>6.87% average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617720"/>
            <a:ext cx="3233962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2A3444"/>
                </a:solidFill>
                <a:latin typeface="Aptos"/>
              </a:defRPr>
            </a:pPr>
            <a:r>
              <a:rPr dirty="0"/>
              <a:t>Recommendation: compare Binders' discount rate </a:t>
            </a:r>
            <a:endParaRPr lang="en-US" dirty="0"/>
          </a:p>
          <a:p>
            <a:pPr>
              <a:defRPr sz="1200" b="0">
                <a:solidFill>
                  <a:srgbClr val="2A3444"/>
                </a:solidFill>
                <a:latin typeface="Aptos"/>
              </a:defRPr>
            </a:pPr>
            <a:r>
              <a:rPr lang="en-US" dirty="0"/>
              <a:t>With sales and profit before changing policy</a:t>
            </a:r>
          </a:p>
          <a:p>
            <a:pPr>
              <a:defRPr sz="1200" b="0">
                <a:solidFill>
                  <a:srgbClr val="2A3444"/>
                </a:solidFill>
                <a:latin typeface="Apto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4223E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515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677384"/>
                </a:solidFill>
                <a:latin typeface="Aptos"/>
              </a:defRPr>
            </a:pPr>
            <a:r>
              <a:t>Turn the analysis into practical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685800" cy="54864"/>
          </a:xfrm>
          <a:prstGeom prst="rect">
            <a:avLst/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55664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6773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46520"/>
            <a:ext cx="59436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677384"/>
                </a:solidFill>
                <a:latin typeface="Aptos"/>
              </a:defRPr>
            </a:pPr>
            <a:r>
              <a:t>DELUXE STORE • SALES ANALYSIS • 2014–2017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80136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11095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46504"/>
            <a:ext cx="4114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4223E"/>
                </a:solidFill>
                <a:latin typeface="Aptos"/>
              </a:defRPr>
            </a:pPr>
            <a:r>
              <a:t>Investigate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4832"/>
            <a:ext cx="406908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Review Tables, Bookcases, Supplies and other loss-making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9672" y="180136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A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911095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46504"/>
            <a:ext cx="4114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4223E"/>
                </a:solidFill>
                <a:latin typeface="Aptos"/>
              </a:defRPr>
            </a:pPr>
            <a:r>
              <a:t>Protect profitable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084832"/>
            <a:ext cx="406908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Maintain focus on strong performers, including the Canon copier.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53512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315468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99816"/>
            <a:ext cx="4114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4223E"/>
                </a:solidFill>
                <a:latin typeface="Aptos"/>
              </a:defRPr>
            </a:pPr>
            <a:r>
              <a:t>Review discount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438144"/>
            <a:ext cx="406908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Check discounts against sales volume, costs and margins.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953512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19672" y="315468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3264408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99816"/>
            <a:ext cx="4114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4223E"/>
                </a:solidFill>
                <a:latin typeface="Aptos"/>
              </a:defRPr>
            </a:pPr>
            <a:r>
              <a:t>Improve weaker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438144"/>
            <a:ext cx="406908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Investigate January/February sales and lower-profit segments/regions.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06824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6112" y="450799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6177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53128"/>
            <a:ext cx="4114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4223E"/>
                </a:solidFill>
                <a:latin typeface="Aptos"/>
              </a:defRPr>
            </a:pPr>
            <a:r>
              <a:t>Monitor consistently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791456"/>
            <a:ext cx="4069080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677384"/>
                </a:solidFill>
                <a:latin typeface="Aptos"/>
              </a:defRPr>
            </a:pPr>
            <a:r>
              <a:t>Use the dashboard to track sales, profit and profit margin.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66928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797296"/>
            <a:ext cx="484632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2D69B4"/>
                </a:solidFill>
                <a:latin typeface="Aptos"/>
              </a:defRPr>
            </a:pPr>
            <a:r>
              <a:t>Priority: investigate first, then make evidence-based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42416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EEB1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777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Turn sales data into better business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3337560" cy="1783080"/>
          </a:xfrm>
          <a:prstGeom prst="roundRect">
            <a:avLst>
              <a:gd name="adj" fmla="val 12000"/>
            </a:avLst>
          </a:prstGeom>
          <a:solidFill>
            <a:srgbClr val="20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28346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A9B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73552"/>
            <a:ext cx="2834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85032"/>
            <a:ext cx="2880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DAE2EE"/>
                </a:solidFill>
                <a:latin typeface="Aptos"/>
              </a:defRPr>
            </a:pPr>
            <a:r>
              <a:t>$2.30M sales • $286.4K profit • 12.47%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06040"/>
            <a:ext cx="3337560" cy="1783080"/>
          </a:xfrm>
          <a:prstGeom prst="roundRect">
            <a:avLst>
              <a:gd name="adj" fmla="val 12000"/>
            </a:avLst>
          </a:prstGeom>
          <a:solidFill>
            <a:srgbClr val="20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28346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CD4A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3273552"/>
            <a:ext cx="2834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685032"/>
            <a:ext cx="2880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DAE2EE"/>
                </a:solidFill>
                <a:latin typeface="Aptos"/>
              </a:defRPr>
            </a:pPr>
            <a:r>
              <a:t>Investigate loss-making products and discount practices.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606040"/>
            <a:ext cx="3337560" cy="1783080"/>
          </a:xfrm>
          <a:prstGeom prst="roundRect">
            <a:avLst>
              <a:gd name="adj" fmla="val 12000"/>
            </a:avLst>
          </a:prstGeom>
          <a:solidFill>
            <a:srgbClr val="20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28346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EEB1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273552"/>
            <a:ext cx="2834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685032"/>
            <a:ext cx="2880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DAE2EE"/>
                </a:solidFill>
                <a:latin typeface="Aptos"/>
              </a:defRPr>
            </a:pPr>
            <a:r>
              <a:t>Use the dashboard to monitor results and guide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82296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88696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DAE2EE"/>
                </a:solidFill>
                <a:latin typeface="Aptos"/>
              </a:defRPr>
            </a:pPr>
            <a:r>
              <a:t>Obisike Miracle • Deluxe Store Sales Analysis • 2014–2017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585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Maxwell obisike</cp:lastModifiedBy>
  <cp:revision>1</cp:revision>
  <dcterms:created xsi:type="dcterms:W3CDTF">2013-01-27T09:14:16Z</dcterms:created>
  <dcterms:modified xsi:type="dcterms:W3CDTF">2026-10-20T23:55:40Z</dcterms:modified>
  <cp:category/>
</cp:coreProperties>
</file>